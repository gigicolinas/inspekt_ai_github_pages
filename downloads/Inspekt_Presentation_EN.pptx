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cb7dde4b9964b15" /><Relationship Type="http://schemas.openxmlformats.org/officeDocument/2006/relationships/extended-properties" Target="/docProps/app.xml" Id="R16e99de2f21a481d" /><Relationship Type="http://schemas.openxmlformats.org/officeDocument/2006/relationships/officeDocument" Target="/ppt/presentation.xml" Id="R985f64478f3d4b1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e3781203a04846"/>
  </p:sldMasterIdLst>
  <p:notesMasterIdLst>
    <p:notesMasterId xmlns:r="http://schemas.openxmlformats.org/officeDocument/2006/relationships" r:id="R584b971db4fb4ece"/>
  </p:notesMasterIdLst>
  <p:sldIdLst>
    <p:sldId xmlns:r="http://schemas.openxmlformats.org/officeDocument/2006/relationships" id="256" r:id="R9f65b4f7fd3244a7"/>
    <p:sldId xmlns:r="http://schemas.openxmlformats.org/officeDocument/2006/relationships" id="257" r:id="R88cc4d447a604fd7"/>
    <p:sldId xmlns:r="http://schemas.openxmlformats.org/officeDocument/2006/relationships" id="258" r:id="R0314063a69134dac"/>
    <p:sldId xmlns:r="http://schemas.openxmlformats.org/officeDocument/2006/relationships" id="259" r:id="Rc4e513a4e8d44298"/>
    <p:sldId xmlns:r="http://schemas.openxmlformats.org/officeDocument/2006/relationships" id="260" r:id="R8a3490e176ea4734"/>
    <p:sldId xmlns:r="http://schemas.openxmlformats.org/officeDocument/2006/relationships" id="261" r:id="Ra8c735376cf540b4"/>
    <p:sldId xmlns:r="http://schemas.openxmlformats.org/officeDocument/2006/relationships" id="262" r:id="R97eb312c2c44434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8330399e6d7495a" /><Relationship Type="http://schemas.openxmlformats.org/officeDocument/2006/relationships/slideMaster" Target="/ppt/slideMasters/slideMaster1.xml" Id="Rc1e3781203a04846" /><Relationship Type="http://schemas.openxmlformats.org/officeDocument/2006/relationships/notesMaster" Target="/ppt/notesMasters/notesMaster1.xml" Id="R584b971db4fb4ece" /><Relationship Type="http://schemas.openxmlformats.org/officeDocument/2006/relationships/presProps" Target="/ppt/presProps.xml" Id="Rdefba01cc5db4d11" /><Relationship Type="http://schemas.openxmlformats.org/officeDocument/2006/relationships/tableStyles" Target="/ppt/tableStyles.xml" Id="Redbbb1b0ee2f42fe" /><Relationship Type="http://schemas.openxmlformats.org/officeDocument/2006/relationships/slide" Target="/ppt/slides/slide1.xml" Id="R9f65b4f7fd3244a7" /><Relationship Type="http://schemas.openxmlformats.org/officeDocument/2006/relationships/slide" Target="/ppt/slides/slide2.xml" Id="R88cc4d447a604fd7" /><Relationship Type="http://schemas.openxmlformats.org/officeDocument/2006/relationships/slide" Target="/ppt/slides/slide3.xml" Id="R0314063a69134dac" /><Relationship Type="http://schemas.openxmlformats.org/officeDocument/2006/relationships/slide" Target="/ppt/slides/slide4.xml" Id="Rc4e513a4e8d44298" /><Relationship Type="http://schemas.openxmlformats.org/officeDocument/2006/relationships/slide" Target="/ppt/slides/slide5.xml" Id="R8a3490e176ea4734" /><Relationship Type="http://schemas.openxmlformats.org/officeDocument/2006/relationships/slide" Target="/ppt/slides/slide6.xml" Id="Ra8c735376cf540b4" /><Relationship Type="http://schemas.openxmlformats.org/officeDocument/2006/relationships/slide" Target="/ppt/slides/slide7.xml" Id="R97eb312c2c44434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fa1a5a782f041f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12c658dac02491a" /><Relationship Type="http://schemas.openxmlformats.org/officeDocument/2006/relationships/notesMaster" Target="/ppt/notesMasters/notesMaster1.xml" Id="Rf77681422825451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859813c6be94686" /><Relationship Type="http://schemas.openxmlformats.org/officeDocument/2006/relationships/notesMaster" Target="/ppt/notesMasters/notesMaster1.xml" Id="Re37d8b2e347b48b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c89686b0cde4f84" /><Relationship Type="http://schemas.openxmlformats.org/officeDocument/2006/relationships/notesMaster" Target="/ppt/notesMasters/notesMaster1.xml" Id="Rc1a760f12509453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3718a5bdf8d416e" /><Relationship Type="http://schemas.openxmlformats.org/officeDocument/2006/relationships/notesMaster" Target="/ppt/notesMasters/notesMaster1.xml" Id="R6ae4854a200c40f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935b64dc7f54ca3" /><Relationship Type="http://schemas.openxmlformats.org/officeDocument/2006/relationships/notesMaster" Target="/ppt/notesMasters/notesMaster1.xml" Id="Rbe90e3c70d07433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29e020fcf0845b3" /><Relationship Type="http://schemas.openxmlformats.org/officeDocument/2006/relationships/notesMaster" Target="/ppt/notesMasters/notesMaster1.xml" Id="R690b5f5d237b4a6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4a6282a52c94515" /><Relationship Type="http://schemas.openxmlformats.org/officeDocument/2006/relationships/notesMaster" Target="/ppt/notesMasters/notesMaster1.xml" Id="R691606f2a81d4d2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Audience: the technical director at a commercial property owner planning façade maintenance. The architectural opening is illustrative. No inspection outcome is attributed to this building.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Supplied Inspekt AI product raw video, platform screenshots and architectural reference images.</a:t>
            </a:r>
          </a:p>
          <a:p xmlns:a="http://schemas.openxmlformats.org/drawingml/2006/main">
            <a:r>
              <a:t>- https://inspektai.com/defect-analysis-dashboard/</a:t>
            </a:r>
          </a:p>
          <a:p xmlns:a="http://schemas.openxmlformats.org/drawingml/2006/main">
            <a:r>
              <a:t>- https://inspektai.com/year-on-year-comparison/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proposed buyer questions, not quoted customer research. RICS describes the importance of scope, access and specialist input in planned maintenance.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Supplied Inspekt AI product raw video, platform screenshots and architectural reference images.</a:t>
            </a:r>
          </a:p>
          <a:p xmlns:a="http://schemas.openxmlformats.org/drawingml/2006/main">
            <a:r>
              <a:t>- https://inspektai.com/defect-analysis-dashboard/</a:t>
            </a:r>
          </a:p>
          <a:p xmlns:a="http://schemas.openxmlformats.org/drawingml/2006/main">
            <a:r>
              <a:t>- https://inspektai.com/year-on-year-comparison/</a:t>
            </a:r>
          </a:p>
          <a:p xmlns:a="http://schemas.openxmlformats.org/drawingml/2006/main">
            <a:r>
              <a:t>- https://ww3.rics.org/uk/en/journals/property-journal/ppm-surveys-increase-asset-value.html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Distinguish image capture, AI assistance and specialist interpretation. Inspekt AI's documentation describes review of flagged anomalies. The responsible professional determines diagnosis and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Supplied Inspekt AI product raw video, platform screenshots and architectural reference images.</a:t>
            </a:r>
          </a:p>
          <a:p xmlns:a="http://schemas.openxmlformats.org/drawingml/2006/main">
            <a:r>
              <a:t>- https://inspektai.com/defect-analysis-dashboard/</a:t>
            </a:r>
          </a:p>
          <a:p xmlns:a="http://schemas.openxmlformats.org/drawingml/2006/main">
            <a:r>
              <a:t>- https://inspektai.com/year-on-year-comparison/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supplied screenshots demonstrate interface functions. Retain original identifiers and labels. Do not invent new findings, dimensions or defect locations.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Supplied Inspekt AI product raw video, platform screenshots and architectural reference images.</a:t>
            </a:r>
          </a:p>
          <a:p xmlns:a="http://schemas.openxmlformats.org/drawingml/2006/main">
            <a:r>
              <a:t>- https://inspektai.com/defect-analysis-dashboard/</a:t>
            </a:r>
          </a:p>
          <a:p xmlns:a="http://schemas.openxmlformats.org/drawingml/2006/main">
            <a:r>
              <a:t>- https://inspektai.com/year-on-year-comparison/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comparison is from the Bangkok example in the raw demonstration, not a measured Sagrada Família defect. Different viewpoints and lighting affect interpretation; no repair history or deterioration rate is established.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Supplied Inspekt AI product raw video, platform screenshots and architectural reference images.</a:t>
            </a:r>
          </a:p>
          <a:p xmlns:a="http://schemas.openxmlformats.org/drawingml/2006/main">
            <a:r>
              <a:t>- https://inspektai.com/defect-analysis-dashboard/</a:t>
            </a:r>
          </a:p>
          <a:p xmlns:a="http://schemas.openxmlformats.org/drawingml/2006/main">
            <a:r>
              <a:t>- https://inspektai.com/year-on-year-comparison/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benefit is support for maintenance planning. Do not promise a final repair specification, guaranteed savings or automatic structural certification.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Supplied Inspekt AI product raw video, platform screenshots and architectural reference images.</a:t>
            </a:r>
          </a:p>
          <a:p xmlns:a="http://schemas.openxmlformats.org/drawingml/2006/main">
            <a:r>
              <a:t>- https://inspektai.com/defect-analysis-dashboard/</a:t>
            </a:r>
          </a:p>
          <a:p xmlns:a="http://schemas.openxmlformats.org/drawingml/2006/main">
            <a:r>
              <a:t>- https://inspektai.com/year-on-year-comparison/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conversion: a qualified request for an inspection proposal. Do not promise an instant quote, fixed turnaround or free inspection. The official contact channel handles the enquiry.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Supplied Inspekt AI product raw video, platform screenshots and architectural reference images.</a:t>
            </a:r>
          </a:p>
          <a:p xmlns:a="http://schemas.openxmlformats.org/drawingml/2006/main">
            <a:r>
              <a:t>- https://inspektai.com/defect-analysis-dashboard/</a:t>
            </a:r>
          </a:p>
          <a:p xmlns:a="http://schemas.openxmlformats.org/drawingml/2006/main">
            <a:r>
              <a:t>- https://inspektai.com/year-on-year-comparison/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acc4e6caef4e5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6c4a97eb45478f" /><Relationship Type="http://schemas.openxmlformats.org/officeDocument/2006/relationships/slideLayout" Target="/ppt/slideLayouts/slideLayout1.xml" Id="Rc8b92e64e146413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b92e64e146413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db65a7ff774a69" /><Relationship Type="http://schemas.openxmlformats.org/officeDocument/2006/relationships/image" Target="/ppt/media/image.jpeg" Id="R2d55d84bf04043a4" /><Relationship Type="http://schemas.openxmlformats.org/officeDocument/2006/relationships/notesSlide" Target="/ppt/notesSlides/notesSlide1.xml" Id="R2c9c39704f7a4b1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d32641ac724a12" /><Relationship Type="http://schemas.openxmlformats.org/officeDocument/2006/relationships/image" Target="/ppt/media/image2.jpeg" Id="Rc937ae6e5a7d43aa" /><Relationship Type="http://schemas.openxmlformats.org/officeDocument/2006/relationships/notesSlide" Target="/ppt/notesSlides/notesSlide2.xml" Id="R4768700aa83441c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46dbd6b38342af" /><Relationship Type="http://schemas.openxmlformats.org/officeDocument/2006/relationships/image" Target="/ppt/media/image3.jpeg" Id="Rb711fba4961b4279" /><Relationship Type="http://schemas.openxmlformats.org/officeDocument/2006/relationships/notesSlide" Target="/ppt/notesSlides/notesSlide3.xml" Id="R68e162a16963423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7cd2c58db849ee" /><Relationship Type="http://schemas.openxmlformats.org/officeDocument/2006/relationships/image" Target="/ppt/media/image4.jpeg" Id="R99e062deea3a4055" /><Relationship Type="http://schemas.openxmlformats.org/officeDocument/2006/relationships/notesSlide" Target="/ppt/notesSlides/notesSlide4.xml" Id="R8ad563e3330d400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752b046bc94aac" /><Relationship Type="http://schemas.openxmlformats.org/officeDocument/2006/relationships/image" Target="/ppt/media/image5.jpeg" Id="R29a1924cb70844fe" /><Relationship Type="http://schemas.openxmlformats.org/officeDocument/2006/relationships/notesSlide" Target="/ppt/notesSlides/notesSlide5.xml" Id="Rb5d2947828124b5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d0fee09f534836" /><Relationship Type="http://schemas.openxmlformats.org/officeDocument/2006/relationships/image" Target="/ppt/media/image6.jpeg" Id="R59842963091c4df2" /><Relationship Type="http://schemas.openxmlformats.org/officeDocument/2006/relationships/notesSlide" Target="/ppt/notesSlides/notesSlide6.xml" Id="Rc3ef1ae0fffb45d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1509cd86a5427c" /><Relationship Type="http://schemas.openxmlformats.org/officeDocument/2006/relationships/image" Target="/ppt/media/image7.jpeg" Id="R3059c8ecdc1f478a" /><Relationship Type="http://schemas.openxmlformats.org/officeDocument/2006/relationships/notesSlide" Target="/ppt/notesSlides/notesSlide7.xml" Id="R58a0733ea26349c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D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585025-7F1A-408F-90CF-FF35197A3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238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2424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242424"/>
                </a:solidFill>
                <a:latin typeface="Noto Sans"/>
                <a:ea typeface="Noto Sans"/>
                <a:cs typeface="Noto Sans"/>
              </a:rPr>
              <a:t>INSPEKT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FF88EC-993E-4649-8380-98FA46A57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33375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B5B52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5B5B52"/>
                </a:solidFill>
                <a:latin typeface="Noto Sans"/>
                <a:ea typeface="Noto Sans"/>
                <a:cs typeface="Noto Sans"/>
              </a:rPr>
              <a:t>01 /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DC704E-037A-4247-9B03-FF1C2400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0125"/>
            <a:ext cx="65722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500" b="0">
                <a:solidFill>
                  <a:srgbClr val="242424"/>
                </a:solidFill>
                <a:latin typeface="Noto Sans"/>
                <a:ea typeface="Noto Sans"/>
                <a:cs typeface="Noto Sans"/>
              </a:defRPr>
            </a:pPr>
            <a:r>
              <a:rPr sz="4500" b="0">
                <a:solidFill>
                  <a:srgbClr val="242424"/>
                </a:solidFill>
                <a:latin typeface="Noto Sans"/>
                <a:ea typeface="Noto Sans"/>
                <a:cs typeface="Noto Sans"/>
              </a:rPr>
              <a:t>Façade inspections.</a:t>
            </a:r>
          </a:p>
          <a:p xmlns:a="http://schemas.openxmlformats.org/drawingml/2006/main">
            <a:pPr>
              <a:defRPr sz="4500" b="0">
                <a:solidFill>
                  <a:srgbClr val="242424"/>
                </a:solidFill>
                <a:latin typeface="Noto Sans"/>
                <a:ea typeface="Noto Sans"/>
                <a:cs typeface="Noto Sans"/>
              </a:defRPr>
            </a:pPr>
            <a:r>
              <a:rPr sz="4500" b="0">
                <a:solidFill>
                  <a:srgbClr val="242424"/>
                </a:solidFill>
                <a:latin typeface="Noto Sans"/>
                <a:ea typeface="Noto Sans"/>
                <a:cs typeface="Noto Sans"/>
              </a:rPr>
              <a:t>Clearer decisions.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FFAD80-38A3-44E4-BDC4-79A0847CB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171575"/>
            <a:ext cx="41338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B5B52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5B5B52"/>
                </a:solidFill>
                <a:latin typeface="Noto Sans"/>
                <a:ea typeface="Noto Sans"/>
                <a:cs typeface="Noto Sans"/>
              </a:rPr>
              <a:t>Understand your façade before you plan the repairs.</a:t>
            </a:r>
          </a:p>
          <a:p xmlns:a="http://schemas.openxmlformats.org/drawingml/2006/main">
            <a:pPr>
              <a:defRPr sz="1800" b="0">
                <a:solidFill>
                  <a:srgbClr val="5B5B52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5B5B52"/>
                </a:solidFill>
                <a:latin typeface="Noto Sans"/>
                <a:ea typeface="Noto Sans"/>
                <a:cs typeface="Noto Sans"/>
              </a:rPr>
              <a:t>Inspection evidence for technical asset teams.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55d84bf04043a4"/>
          <a:srcRect xmlns:a="http://schemas.openxmlformats.org/drawingml/2006/main" l="0" t="25007" r="0" b="250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2905125"/>
            <a:ext cx="11125200" cy="32575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309225-7172-4963-9271-7908D7C51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B2A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75C713-7EBB-4096-B79F-B85A54074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048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5B52"/>
                </a:solidFill>
                <a:latin typeface="Noto Sans"/>
                <a:ea typeface="Noto Sans"/>
                <a:cs typeface="Noto Sans"/>
              </a:defRPr>
            </a:pPr>
            <a:r>
              <a:rPr sz="825" b="0">
                <a:solidFill>
                  <a:srgbClr val="5B5B52"/>
                </a:solidFill>
                <a:latin typeface="Noto Sans"/>
                <a:ea typeface="Noto Sans"/>
                <a:cs typeface="Noto Sans"/>
              </a:rPr>
              <a:t>Supplied product imagery · Proposal by Genadio Colinas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5BCD3B-E757-44CF-9A21-DE6973125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09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5B52"/>
                </a:solidFill>
                <a:latin typeface="Noto Sans"/>
                <a:ea typeface="Noto Sans"/>
                <a:cs typeface="Noto Sans"/>
              </a:defRPr>
            </a:pPr>
            <a:r>
              <a:rPr sz="825" b="0">
                <a:solidFill>
                  <a:srgbClr val="5B5B52"/>
                </a:solidFill>
                <a:latin typeface="Noto Sans"/>
                <a:ea typeface="Noto Sans"/>
                <a:cs typeface="Noto Sans"/>
              </a:rPr>
              <a:t>EN</a:t>
            </a:r>
          </a:p>
        </p:txBody>
      </p:sp>
    </p:spTree>
    <p:extLst>
      <p:ext uri="{BB962C8B-B14F-4D97-AF65-F5344CB8AC3E}">
        <p14:creationId xmlns:p14="http://schemas.microsoft.com/office/powerpoint/2010/main" val="2129648054"/>
      </p:ext>
    </p:extLst>
  </p:cSld>
  <p:transition spd="med">
    <p:fade/>
  </p:transition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242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3B0524-27C0-4D7A-83D7-D61FE6037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238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DE8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FFFDE8"/>
                </a:solidFill>
                <a:latin typeface="Noto Sans"/>
                <a:ea typeface="Noto Sans"/>
                <a:cs typeface="Noto Sans"/>
              </a:rPr>
              <a:t>INSPEKT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0A254C-7ADD-468A-BFE5-A918103DB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33375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D8D5C6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D8D5C6"/>
                </a:solidFill>
                <a:latin typeface="Noto Sans"/>
                <a:ea typeface="Noto Sans"/>
                <a:cs typeface="Noto Sans"/>
              </a:rPr>
              <a:t>02 /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260346-9238-4258-AAF8-154FD37F8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619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275" b="0">
                <a:solidFill>
                  <a:srgbClr val="FFFDE8"/>
                </a:solidFill>
                <a:latin typeface="Noto Sans"/>
                <a:ea typeface="Noto Sans"/>
                <a:cs typeface="Noto Sans"/>
              </a:defRPr>
            </a:pPr>
            <a:r>
              <a:rPr sz="4275" b="0">
                <a:solidFill>
                  <a:srgbClr val="FFFDE8"/>
                </a:solidFill>
                <a:latin typeface="Noto Sans"/>
                <a:ea typeface="Noto Sans"/>
                <a:cs typeface="Noto Sans"/>
              </a:rPr>
              <a:t>Define the work</a:t>
            </a:r>
          </a:p>
          <a:p xmlns:a="http://schemas.openxmlformats.org/drawingml/2006/main">
            <a:pPr>
              <a:defRPr sz="4275" b="0">
                <a:solidFill>
                  <a:srgbClr val="FFFDE8"/>
                </a:solidFill>
                <a:latin typeface="Noto Sans"/>
                <a:ea typeface="Noto Sans"/>
                <a:cs typeface="Noto Sans"/>
              </a:defRPr>
            </a:pPr>
            <a:r>
              <a:rPr sz="4275" b="0">
                <a:solidFill>
                  <a:srgbClr val="FFFDE8"/>
                </a:solidFill>
                <a:latin typeface="Noto Sans"/>
                <a:ea typeface="Noto Sans"/>
                <a:cs typeface="Noto Sans"/>
              </a:rPr>
              <a:t>with better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0F6CE6-E03B-44B7-AB16-5D1A8B863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81375"/>
            <a:ext cx="52387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D8D5C6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D8D5C6"/>
                </a:solidFill>
                <a:latin typeface="Noto Sans"/>
                <a:ea typeface="Noto Sans"/>
                <a:cs typeface="Noto Sans"/>
              </a:rPr>
              <a:t>Where is the finding?</a:t>
            </a:r>
          </a:p>
          <a:p xmlns:a="http://schemas.openxmlformats.org/drawingml/2006/main">
            <a:pPr>
              <a:defRPr sz="1875" b="0">
                <a:solidFill>
                  <a:srgbClr val="D8D5C6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D8D5C6"/>
                </a:solidFill>
                <a:latin typeface="Noto Sans"/>
                <a:ea typeface="Noto Sans"/>
                <a:cs typeface="Noto Sans"/>
              </a:rPr>
              <a:t>What needs closer assessment?</a:t>
            </a:r>
          </a:p>
          <a:p xmlns:a="http://schemas.openxmlformats.org/drawingml/2006/main">
            <a:pPr>
              <a:defRPr sz="1875" b="0">
                <a:solidFill>
                  <a:srgbClr val="D8D5C6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D8D5C6"/>
                </a:solidFill>
                <a:latin typeface="Noto Sans"/>
                <a:ea typeface="Noto Sans"/>
                <a:cs typeface="Noto Sans"/>
              </a:rPr>
              <a:t>What information supports the maintenance scope?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37ae6e5a7d43aa"/>
          <a:srcRect xmlns:a="http://schemas.openxmlformats.org/drawingml/2006/main" l="23998" t="0" r="2399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91350" y="990600"/>
            <a:ext cx="4667250" cy="5048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45D19F-600F-4B7F-90A1-6D738A041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6F6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097180-47F5-4637-8133-A4F7F10CC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048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D8D5C6"/>
                </a:solidFill>
                <a:latin typeface="Noto Sans"/>
                <a:ea typeface="Noto Sans"/>
                <a:cs typeface="Noto Sans"/>
              </a:defRPr>
            </a:pPr>
            <a:r>
              <a:rPr sz="825" b="0">
                <a:solidFill>
                  <a:srgbClr val="D8D5C6"/>
                </a:solidFill>
                <a:latin typeface="Noto Sans"/>
                <a:ea typeface="Noto Sans"/>
                <a:cs typeface="Noto Sans"/>
              </a:rPr>
              <a:t>Supplied product imagery · Proposal by Genadio Colinas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0604E9-CFB0-4F9C-BE30-292FC72A0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09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D8D5C6"/>
                </a:solidFill>
                <a:latin typeface="Noto Sans"/>
                <a:ea typeface="Noto Sans"/>
                <a:cs typeface="Noto Sans"/>
              </a:defRPr>
            </a:pPr>
            <a:r>
              <a:rPr sz="825" b="0">
                <a:solidFill>
                  <a:srgbClr val="D8D5C6"/>
                </a:solidFill>
                <a:latin typeface="Noto Sans"/>
                <a:ea typeface="Noto Sans"/>
                <a:cs typeface="Noto Sans"/>
              </a:rPr>
              <a:t>EN</a:t>
            </a:r>
          </a:p>
        </p:txBody>
      </p:sp>
    </p:spTree>
    <p:extLst>
      <p:ext uri="{BB962C8B-B14F-4D97-AF65-F5344CB8AC3E}">
        <p14:creationId xmlns:p14="http://schemas.microsoft.com/office/powerpoint/2010/main" val="2107120731"/>
      </p:ext>
    </p:extLst>
  </p:cSld>
  <p:transition spd="med">
    <p:fade/>
  </p:transition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E56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FCA8BD-898F-47E7-8A13-E0A6557B5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238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2424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242424"/>
                </a:solidFill>
                <a:latin typeface="Noto Sans"/>
                <a:ea typeface="Noto Sans"/>
                <a:cs typeface="Noto Sans"/>
              </a:rPr>
              <a:t>INSPEKT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6B8530-5827-4F85-8CC6-E945B8EE1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33375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B5B52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5B5B52"/>
                </a:solidFill>
                <a:latin typeface="Noto Sans"/>
                <a:ea typeface="Noto Sans"/>
                <a:cs typeface="Noto Sans"/>
              </a:rPr>
              <a:t>03 /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71E951-CDB1-4380-91E3-8F0993C8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5715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200" b="0">
                <a:solidFill>
                  <a:srgbClr val="242424"/>
                </a:solidFill>
                <a:latin typeface="Noto Sans"/>
                <a:ea typeface="Noto Sans"/>
                <a:cs typeface="Noto Sans"/>
              </a:defRPr>
            </a:pPr>
            <a:r>
              <a:rPr sz="4200" b="0">
                <a:solidFill>
                  <a:srgbClr val="242424"/>
                </a:solidFill>
                <a:latin typeface="Noto Sans"/>
                <a:ea typeface="Noto Sans"/>
                <a:cs typeface="Noto Sans"/>
              </a:rPr>
              <a:t>Capture. Locate.</a:t>
            </a:r>
          </a:p>
          <a:p xmlns:a="http://schemas.openxmlformats.org/drawingml/2006/main">
            <a:pPr>
              <a:defRPr sz="4200" b="0">
                <a:solidFill>
                  <a:srgbClr val="242424"/>
                </a:solidFill>
                <a:latin typeface="Noto Sans"/>
                <a:ea typeface="Noto Sans"/>
                <a:cs typeface="Noto Sans"/>
              </a:defRPr>
            </a:pPr>
            <a:r>
              <a:rPr sz="4200" b="0">
                <a:solidFill>
                  <a:srgbClr val="242424"/>
                </a:solidFill>
                <a:latin typeface="Noto Sans"/>
                <a:ea typeface="Noto Sans"/>
                <a:cs typeface="Noto Sans"/>
              </a:rPr>
              <a:t>Review together.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4D1A6E-895B-471A-A82F-BB6059276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718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B5B52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5B5B52"/>
                </a:solidFill>
                <a:latin typeface="Noto Sans"/>
                <a:ea typeface="Noto Sans"/>
                <a:cs typeface="Noto San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438676-3728-4400-A7C2-9847168DC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05150"/>
            <a:ext cx="43624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42424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242424"/>
                </a:solidFill>
                <a:latin typeface="Noto Sans"/>
                <a:ea typeface="Noto Sans"/>
                <a:cs typeface="Noto Sans"/>
              </a:rPr>
              <a:t>Drone imagery provides the visual record.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548F23-B0E9-478F-BDE5-AAEAAFC79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433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B5B52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5B5B52"/>
                </a:solidFill>
                <a:latin typeface="Noto Sans"/>
                <a:ea typeface="Noto Sans"/>
                <a:cs typeface="Noto San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622394-366C-4DA3-998F-2E4E70725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76700"/>
            <a:ext cx="43624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42424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242424"/>
                </a:solidFill>
                <a:latin typeface="Noto Sans"/>
                <a:ea typeface="Noto Sans"/>
                <a:cs typeface="Noto Sans"/>
              </a:rPr>
              <a:t>AI-assisted analysis organises findings.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6FFE07-E212-433D-BE91-40DB99D6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B5B52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5B5B52"/>
                </a:solidFill>
                <a:latin typeface="Noto Sans"/>
                <a:ea typeface="Noto Sans"/>
                <a:cs typeface="Noto Sans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77ED91-154C-40F1-8384-E2A920780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48250"/>
            <a:ext cx="43624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42424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242424"/>
                </a:solidFill>
                <a:latin typeface="Noto Sans"/>
                <a:ea typeface="Noto Sans"/>
                <a:cs typeface="Noto Sans"/>
              </a:rPr>
              <a:t>Specialist review supports interpretation.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11fba4961b4279"/>
          <a:stretch xmlns:a="http://schemas.openxmlformats.org/drawingml/2006/main"/>
        </p:blipFill>
        <p:spPr>
          <a:xfrm xmlns:a="http://schemas.openxmlformats.org/drawingml/2006/main">
            <a:off x="6629400" y="2209673"/>
            <a:ext cx="5029200" cy="2629154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CCD4E3-B5F6-4521-A92B-506204958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B2A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4BBA27-ABDF-4CA6-82CE-643D32A7D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048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5B52"/>
                </a:solidFill>
                <a:latin typeface="Noto Sans"/>
                <a:ea typeface="Noto Sans"/>
                <a:cs typeface="Noto Sans"/>
              </a:defRPr>
            </a:pPr>
            <a:r>
              <a:rPr sz="825" b="0">
                <a:solidFill>
                  <a:srgbClr val="5B5B52"/>
                </a:solidFill>
                <a:latin typeface="Noto Sans"/>
                <a:ea typeface="Noto Sans"/>
                <a:cs typeface="Noto Sans"/>
              </a:rPr>
              <a:t>Supplied product imagery · Proposal by Genadio Colinas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A19CCA-541D-431C-BE5F-32AEBC812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09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5B52"/>
                </a:solidFill>
                <a:latin typeface="Noto Sans"/>
                <a:ea typeface="Noto Sans"/>
                <a:cs typeface="Noto Sans"/>
              </a:defRPr>
            </a:pPr>
            <a:r>
              <a:rPr sz="825" b="0">
                <a:solidFill>
                  <a:srgbClr val="5B5B52"/>
                </a:solidFill>
                <a:latin typeface="Noto Sans"/>
                <a:ea typeface="Noto Sans"/>
                <a:cs typeface="Noto Sans"/>
              </a:rPr>
              <a:t>EN</a:t>
            </a:r>
          </a:p>
        </p:txBody>
      </p:sp>
    </p:spTree>
    <p:extLst>
      <p:ext uri="{BB962C8B-B14F-4D97-AF65-F5344CB8AC3E}">
        <p14:creationId xmlns:p14="http://schemas.microsoft.com/office/powerpoint/2010/main" val="409308981"/>
      </p:ext>
    </p:extLst>
  </p:cSld>
  <p:transition spd="med">
    <p:fade/>
  </p:transition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C3DDBF-73A0-4A90-AAEB-E885FA86C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238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2424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242424"/>
                </a:solidFill>
                <a:latin typeface="Noto Sans"/>
                <a:ea typeface="Noto Sans"/>
                <a:cs typeface="Noto Sans"/>
              </a:rPr>
              <a:t>INSPEKT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DC5764-0CAC-4433-9239-8ACED09D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33375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B5B52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5B5B52"/>
                </a:solidFill>
                <a:latin typeface="Noto Sans"/>
                <a:ea typeface="Noto Sans"/>
                <a:cs typeface="Noto Sans"/>
              </a:rPr>
              <a:t>04 /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F1E1E2-5B12-4E10-86B7-26E1C3488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0125"/>
            <a:ext cx="6667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275" b="0">
                <a:solidFill>
                  <a:srgbClr val="242424"/>
                </a:solidFill>
                <a:latin typeface="Noto Sans"/>
                <a:ea typeface="Noto Sans"/>
                <a:cs typeface="Noto Sans"/>
              </a:defRPr>
            </a:pPr>
            <a:r>
              <a:rPr sz="4275" b="0">
                <a:solidFill>
                  <a:srgbClr val="242424"/>
                </a:solidFill>
                <a:latin typeface="Noto Sans"/>
                <a:ea typeface="Noto Sans"/>
                <a:cs typeface="Noto Sans"/>
              </a:rPr>
              <a:t>Give each finding</a:t>
            </a:r>
          </a:p>
          <a:p xmlns:a="http://schemas.openxmlformats.org/drawingml/2006/main">
            <a:pPr>
              <a:defRPr sz="4275" b="0">
                <a:solidFill>
                  <a:srgbClr val="242424"/>
                </a:solidFill>
                <a:latin typeface="Noto Sans"/>
                <a:ea typeface="Noto Sans"/>
                <a:cs typeface="Noto Sans"/>
              </a:defRPr>
            </a:pPr>
            <a:r>
              <a:rPr sz="4275" b="0">
                <a:solidFill>
                  <a:srgbClr val="242424"/>
                </a:solidFill>
                <a:latin typeface="Noto Sans"/>
                <a:ea typeface="Noto Sans"/>
                <a:cs typeface="Noto Sans"/>
              </a:rPr>
              <a:t>its building context.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e062deea3a4055"/>
          <a:stretch xmlns:a="http://schemas.openxmlformats.org/drawingml/2006/main"/>
        </p:blipFill>
        <p:spPr>
          <a:xfrm xmlns:a="http://schemas.openxmlformats.org/drawingml/2006/main">
            <a:off x="1506337" y="2762250"/>
            <a:ext cx="5055000" cy="32099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0CC20B-0987-42D0-922D-0CEE95F16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943225"/>
            <a:ext cx="350520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B5B52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5B5B52"/>
                </a:solidFill>
                <a:latin typeface="Noto Sans"/>
                <a:ea typeface="Noto Sans"/>
                <a:cs typeface="Noto Sans"/>
              </a:rPr>
              <a:t>Open the image behind a finding.</a:t>
            </a:r>
          </a:p>
          <a:p xmlns:a="http://schemas.openxmlformats.org/drawingml/2006/main">
            <a:pPr>
              <a:defRPr sz="1875" b="0">
                <a:solidFill>
                  <a:srgbClr val="5B5B52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5B5B52"/>
                </a:solidFill>
                <a:latin typeface="Noto Sans"/>
                <a:ea typeface="Noto Sans"/>
                <a:cs typeface="Noto Sans"/>
              </a:rPr>
              <a:t>Review its location and recorded details.</a:t>
            </a:r>
          </a:p>
          <a:p xmlns:a="http://schemas.openxmlformats.org/drawingml/2006/main">
            <a:pPr>
              <a:defRPr sz="1875" b="0">
                <a:solidFill>
                  <a:srgbClr val="5B5B52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5B5B52"/>
                </a:solidFill>
                <a:latin typeface="Noto Sans"/>
                <a:ea typeface="Noto Sans"/>
                <a:cs typeface="Noto Sans"/>
              </a:rPr>
              <a:t>Bring the same evidence into the technical discussion.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62C48D-A737-49C7-BB6A-9CFB2EC26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B2A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5EB557-8B29-4ED6-8D13-941E077B3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048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5B52"/>
                </a:solidFill>
                <a:latin typeface="Noto Sans"/>
                <a:ea typeface="Noto Sans"/>
                <a:cs typeface="Noto Sans"/>
              </a:defRPr>
            </a:pPr>
            <a:r>
              <a:rPr sz="825" b="0">
                <a:solidFill>
                  <a:srgbClr val="5B5B52"/>
                </a:solidFill>
                <a:latin typeface="Noto Sans"/>
                <a:ea typeface="Noto Sans"/>
                <a:cs typeface="Noto Sans"/>
              </a:rPr>
              <a:t>Supplied product imagery · Proposal by Genadio Colinas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00CB20-03B1-4C88-8C38-6572ED02F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09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5B52"/>
                </a:solidFill>
                <a:latin typeface="Noto Sans"/>
                <a:ea typeface="Noto Sans"/>
                <a:cs typeface="Noto Sans"/>
              </a:defRPr>
            </a:pPr>
            <a:r>
              <a:rPr sz="825" b="0">
                <a:solidFill>
                  <a:srgbClr val="5B5B52"/>
                </a:solidFill>
                <a:latin typeface="Noto Sans"/>
                <a:ea typeface="Noto Sans"/>
                <a:cs typeface="Noto Sans"/>
              </a:rPr>
              <a:t>EN</a:t>
            </a:r>
          </a:p>
        </p:txBody>
      </p:sp>
    </p:spTree>
    <p:extLst>
      <p:ext uri="{BB962C8B-B14F-4D97-AF65-F5344CB8AC3E}">
        <p14:creationId xmlns:p14="http://schemas.microsoft.com/office/powerpoint/2010/main" val="1783543838"/>
      </p:ext>
    </p:extLst>
  </p:cSld>
  <p:transition spd="med">
    <p:fade/>
  </p:transition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7283C0-CF2A-4C98-AFFF-DDAA3659E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238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2424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242424"/>
                </a:solidFill>
                <a:latin typeface="Noto Sans"/>
                <a:ea typeface="Noto Sans"/>
                <a:cs typeface="Noto Sans"/>
              </a:rPr>
              <a:t>INSPEKT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936680-908B-4035-A98F-FE3FDF4BC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33375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B5B52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5B5B52"/>
                </a:solidFill>
                <a:latin typeface="Noto Sans"/>
                <a:ea typeface="Noto Sans"/>
                <a:cs typeface="Noto Sans"/>
              </a:rPr>
              <a:t>05 /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CA26F8-12C4-416B-AAA9-BE54EAEAD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47750"/>
            <a:ext cx="528637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200" b="0">
                <a:solidFill>
                  <a:srgbClr val="242424"/>
                </a:solidFill>
                <a:latin typeface="Noto Sans"/>
                <a:ea typeface="Noto Sans"/>
                <a:cs typeface="Noto Sans"/>
              </a:defRPr>
            </a:pPr>
            <a:r>
              <a:rPr sz="4200" b="0">
                <a:solidFill>
                  <a:srgbClr val="242424"/>
                </a:solidFill>
                <a:latin typeface="Noto Sans"/>
                <a:ea typeface="Noto Sans"/>
                <a:cs typeface="Noto Sans"/>
              </a:rPr>
              <a:t>See what changes</a:t>
            </a:r>
          </a:p>
          <a:p xmlns:a="http://schemas.openxmlformats.org/drawingml/2006/main">
            <a:pPr>
              <a:defRPr sz="4200" b="0">
                <a:solidFill>
                  <a:srgbClr val="242424"/>
                </a:solidFill>
                <a:latin typeface="Noto Sans"/>
                <a:ea typeface="Noto Sans"/>
                <a:cs typeface="Noto Sans"/>
              </a:defRPr>
            </a:pPr>
            <a:r>
              <a:rPr sz="4200" b="0">
                <a:solidFill>
                  <a:srgbClr val="242424"/>
                </a:solidFill>
                <a:latin typeface="Noto Sans"/>
                <a:ea typeface="Noto Sans"/>
                <a:cs typeface="Noto Sans"/>
              </a:rPr>
              <a:t>over time.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461F46-F4FD-4433-BAED-DAD496ED8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46672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B5B52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5B5B52"/>
                </a:solidFill>
                <a:latin typeface="Noto Sans"/>
                <a:ea typeface="Noto Sans"/>
                <a:cs typeface="Noto Sans"/>
              </a:rPr>
              <a:t>25 Dec 2023 / 13 May 2025</a:t>
            </a:r>
          </a:p>
          <a:p xmlns:a="http://schemas.openxmlformats.org/drawingml/2006/main">
            <a:pPr>
              <a:defRPr sz="1800" b="0">
                <a:solidFill>
                  <a:srgbClr val="5B5B52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5B5B52"/>
                </a:solidFill>
                <a:latin typeface="Noto Sans"/>
                <a:ea typeface="Noto Sans"/>
                <a:cs typeface="Noto Sans"/>
              </a:rPr>
              <a:t>Compare dated images of the same area.</a:t>
            </a:r>
          </a:p>
          <a:p xmlns:a="http://schemas.openxmlformats.org/drawingml/2006/main">
            <a:pPr>
              <a:defRPr sz="1800" b="0">
                <a:solidFill>
                  <a:srgbClr val="5B5B52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5B5B52"/>
                </a:solidFill>
                <a:latin typeface="Noto Sans"/>
                <a:ea typeface="Noto Sans"/>
                <a:cs typeface="Noto Sans"/>
              </a:rPr>
              <a:t>A first inspection can establish the starting record.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a1924cb70844fe"/>
          <a:stretch xmlns:a="http://schemas.openxmlformats.org/drawingml/2006/main"/>
        </p:blipFill>
        <p:spPr>
          <a:xfrm xmlns:a="http://schemas.openxmlformats.org/drawingml/2006/main">
            <a:off x="6191250" y="1962745"/>
            <a:ext cx="5467350" cy="3075384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9BA0F4-8A7C-4E79-B5F6-0872C193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B2A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8B280D-404C-411F-ACA6-275080850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048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5B52"/>
                </a:solidFill>
                <a:latin typeface="Noto Sans"/>
                <a:ea typeface="Noto Sans"/>
                <a:cs typeface="Noto Sans"/>
              </a:defRPr>
            </a:pPr>
            <a:r>
              <a:rPr sz="825" b="0">
                <a:solidFill>
                  <a:srgbClr val="5B5B52"/>
                </a:solidFill>
                <a:latin typeface="Noto Sans"/>
                <a:ea typeface="Noto Sans"/>
                <a:cs typeface="Noto Sans"/>
              </a:rPr>
              <a:t>Supplied product imagery · Proposal by Genadio Colinas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B838AF-020A-485A-B944-704A855A1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09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5B52"/>
                </a:solidFill>
                <a:latin typeface="Noto Sans"/>
                <a:ea typeface="Noto Sans"/>
                <a:cs typeface="Noto Sans"/>
              </a:defRPr>
            </a:pPr>
            <a:r>
              <a:rPr sz="825" b="0">
                <a:solidFill>
                  <a:srgbClr val="5B5B52"/>
                </a:solidFill>
                <a:latin typeface="Noto Sans"/>
                <a:ea typeface="Noto Sans"/>
                <a:cs typeface="Noto Sans"/>
              </a:rPr>
              <a:t>EN</a:t>
            </a:r>
          </a:p>
        </p:txBody>
      </p:sp>
    </p:spTree>
    <p:extLst>
      <p:ext uri="{BB962C8B-B14F-4D97-AF65-F5344CB8AC3E}">
        <p14:creationId xmlns:p14="http://schemas.microsoft.com/office/powerpoint/2010/main" val="1344873027"/>
      </p:ext>
    </p:extLst>
  </p:cSld>
  <p:transition spd="med">
    <p:fade/>
  </p:transition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242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9D1F99-0F15-4757-9E12-0676EC417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238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DE8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FFFDE8"/>
                </a:solidFill>
                <a:latin typeface="Noto Sans"/>
                <a:ea typeface="Noto Sans"/>
                <a:cs typeface="Noto Sans"/>
              </a:rPr>
              <a:t>INSPEKT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51746E-9A17-454F-970B-38D7BBD69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33375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D8D5C6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D8D5C6"/>
                </a:solidFill>
                <a:latin typeface="Noto Sans"/>
                <a:ea typeface="Noto Sans"/>
                <a:cs typeface="Noto Sans"/>
              </a:rPr>
              <a:t>06 /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614D19-256C-4BA5-AB31-1294EF502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619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275" b="0">
                <a:solidFill>
                  <a:srgbClr val="FFFDE8"/>
                </a:solidFill>
                <a:latin typeface="Noto Sans"/>
                <a:ea typeface="Noto Sans"/>
                <a:cs typeface="Noto Sans"/>
              </a:defRPr>
            </a:pPr>
            <a:r>
              <a:rPr sz="4275" b="0">
                <a:solidFill>
                  <a:srgbClr val="FFFDE8"/>
                </a:solidFill>
                <a:latin typeface="Noto Sans"/>
                <a:ea typeface="Noto Sans"/>
                <a:cs typeface="Noto Sans"/>
              </a:rPr>
              <a:t>Prepare priorities</a:t>
            </a:r>
          </a:p>
          <a:p xmlns:a="http://schemas.openxmlformats.org/drawingml/2006/main">
            <a:pPr>
              <a:defRPr sz="4275" b="0">
                <a:solidFill>
                  <a:srgbClr val="FFFDE8"/>
                </a:solidFill>
                <a:latin typeface="Noto Sans"/>
                <a:ea typeface="Noto Sans"/>
                <a:cs typeface="Noto Sans"/>
              </a:defRPr>
            </a:pPr>
            <a:r>
              <a:rPr sz="4275" b="0">
                <a:solidFill>
                  <a:srgbClr val="FFFDE8"/>
                </a:solidFill>
                <a:latin typeface="Noto Sans"/>
                <a:ea typeface="Noto Sans"/>
                <a:cs typeface="Noto Sans"/>
              </a:rPr>
              <a:t>your team can explain.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C76218-56C7-4A9E-8A93-8BC0B525A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81375"/>
            <a:ext cx="52387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D8D5C6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D8D5C6"/>
                </a:solidFill>
                <a:latin typeface="Noto Sans"/>
                <a:ea typeface="Noto Sans"/>
                <a:cs typeface="Noto Sans"/>
              </a:rPr>
              <a:t>Use located findings and inspection records to discuss maintenance scope.</a:t>
            </a:r>
          </a:p>
          <a:p xmlns:a="http://schemas.openxmlformats.org/drawingml/2006/main">
            <a:pPr>
              <a:defRPr sz="1875" b="0">
                <a:solidFill>
                  <a:srgbClr val="D8D5C6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D8D5C6"/>
                </a:solidFill>
                <a:latin typeface="Noto Sans"/>
                <a:ea typeface="Noto Sans"/>
                <a:cs typeface="Noto Sans"/>
              </a:rPr>
              <a:t>Agree what needs further assessment with the responsible technical team.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842963091c4df2"/>
          <a:stretch xmlns:a="http://schemas.openxmlformats.org/drawingml/2006/main"/>
        </p:blipFill>
        <p:spPr>
          <a:xfrm xmlns:a="http://schemas.openxmlformats.org/drawingml/2006/main">
            <a:off x="6991350" y="2202061"/>
            <a:ext cx="4667250" cy="2625328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944C81-958C-470C-9875-50BAB4DA9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6F6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8AD9C4-C916-4FE4-89FC-6F067B766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048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D8D5C6"/>
                </a:solidFill>
                <a:latin typeface="Noto Sans"/>
                <a:ea typeface="Noto Sans"/>
                <a:cs typeface="Noto Sans"/>
              </a:defRPr>
            </a:pPr>
            <a:r>
              <a:rPr sz="825" b="0">
                <a:solidFill>
                  <a:srgbClr val="D8D5C6"/>
                </a:solidFill>
                <a:latin typeface="Noto Sans"/>
                <a:ea typeface="Noto Sans"/>
                <a:cs typeface="Noto Sans"/>
              </a:rPr>
              <a:t>Supplied product imagery · Proposal by Genadio Colinas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5FB327-34E7-4B1B-BE16-48491889B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09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D8D5C6"/>
                </a:solidFill>
                <a:latin typeface="Noto Sans"/>
                <a:ea typeface="Noto Sans"/>
                <a:cs typeface="Noto Sans"/>
              </a:defRPr>
            </a:pPr>
            <a:r>
              <a:rPr sz="825" b="0">
                <a:solidFill>
                  <a:srgbClr val="D8D5C6"/>
                </a:solidFill>
                <a:latin typeface="Noto Sans"/>
                <a:ea typeface="Noto Sans"/>
                <a:cs typeface="Noto Sans"/>
              </a:rPr>
              <a:t>EN</a:t>
            </a:r>
          </a:p>
        </p:txBody>
      </p:sp>
    </p:spTree>
    <p:extLst>
      <p:ext uri="{BB962C8B-B14F-4D97-AF65-F5344CB8AC3E}">
        <p14:creationId xmlns:p14="http://schemas.microsoft.com/office/powerpoint/2010/main" val="1121462768"/>
      </p:ext>
    </p:extLst>
  </p:cSld>
  <p:transition spd="med">
    <p:fade/>
  </p:transition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E56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EFD859-806D-4A07-9741-3B030649E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238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2424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242424"/>
                </a:solidFill>
                <a:latin typeface="Noto Sans"/>
                <a:ea typeface="Noto Sans"/>
                <a:cs typeface="Noto Sans"/>
              </a:rPr>
              <a:t>INSPEKT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3D00BC-885A-44BC-8218-62B700B80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33375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B5B52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5B5B52"/>
                </a:solidFill>
                <a:latin typeface="Noto Sans"/>
                <a:ea typeface="Noto Sans"/>
                <a:cs typeface="Noto Sans"/>
              </a:rPr>
              <a:t>07 /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E3B9F4-F55A-4C3B-8326-240CFC6E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619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100" b="0">
                <a:solidFill>
                  <a:srgbClr val="242424"/>
                </a:solidFill>
                <a:latin typeface="Noto Sans"/>
                <a:ea typeface="Noto Sans"/>
                <a:cs typeface="Noto Sans"/>
              </a:defRPr>
            </a:pPr>
            <a:r>
              <a:rPr sz="5100" b="0">
                <a:solidFill>
                  <a:srgbClr val="242424"/>
                </a:solidFill>
                <a:latin typeface="Noto Sans"/>
                <a:ea typeface="Noto Sans"/>
                <a:cs typeface="Noto Sans"/>
              </a:rPr>
              <a:t>Start with</a:t>
            </a:r>
          </a:p>
          <a:p xmlns:a="http://schemas.openxmlformats.org/drawingml/2006/main">
            <a:pPr>
              <a:defRPr sz="5100" b="0">
                <a:solidFill>
                  <a:srgbClr val="242424"/>
                </a:solidFill>
                <a:latin typeface="Noto Sans"/>
                <a:ea typeface="Noto Sans"/>
                <a:cs typeface="Noto Sans"/>
              </a:defRPr>
            </a:pPr>
            <a:r>
              <a:rPr sz="5100" b="0">
                <a:solidFill>
                  <a:srgbClr val="242424"/>
                </a:solidFill>
                <a:latin typeface="Noto Sans"/>
                <a:ea typeface="Noto Sans"/>
                <a:cs typeface="Noto Sans"/>
              </a:rPr>
              <a:t>your building.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7AAFF8-E3B4-4F68-84AD-A40D5D25A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81375"/>
            <a:ext cx="52387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B5B52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5B5B52"/>
                </a:solidFill>
                <a:latin typeface="Noto Sans"/>
                <a:ea typeface="Noto Sans"/>
                <a:cs typeface="Noto Sans"/>
              </a:rPr>
              <a:t>Request an inspection proposal.</a:t>
            </a:r>
          </a:p>
          <a:p xmlns:a="http://schemas.openxmlformats.org/drawingml/2006/main">
            <a:pPr>
              <a:defRPr sz="1875" b="0">
                <a:solidFill>
                  <a:srgbClr val="5B5B52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5B5B52"/>
                </a:solidFill>
                <a:latin typeface="Noto Sans"/>
                <a:ea typeface="Noto Sans"/>
                <a:cs typeface="Noto Sans"/>
              </a:rPr>
              <a:t>Share the location, main concern and desired timing.</a:t>
            </a:r>
          </a:p>
          <a:p xmlns:a="http://schemas.openxmlformats.org/drawingml/2006/main">
            <a:pPr>
              <a:defRPr sz="1875" b="0">
                <a:solidFill>
                  <a:srgbClr val="5B5B52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5B5B52"/>
                </a:solidFill>
                <a:latin typeface="Noto Sans"/>
                <a:ea typeface="Noto Sans"/>
                <a:cs typeface="Noto Sans"/>
              </a:rPr>
              <a:t>Scope and access requirements are reviewed for each property.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59c8ecdc1f478a"/>
          <a:srcRect xmlns:a="http://schemas.openxmlformats.org/drawingml/2006/main" l="23834" t="0" r="2383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91350" y="990600"/>
            <a:ext cx="4667250" cy="5048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3643DE-88E7-4A02-AF7C-1DAA7F1E0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B2A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373603-1745-40E2-9F64-0876AD25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048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5B52"/>
                </a:solidFill>
                <a:latin typeface="Noto Sans"/>
                <a:ea typeface="Noto Sans"/>
                <a:cs typeface="Noto Sans"/>
              </a:defRPr>
            </a:pPr>
            <a:r>
              <a:rPr sz="825" b="0">
                <a:solidFill>
                  <a:srgbClr val="5B5B52"/>
                </a:solidFill>
                <a:latin typeface="Noto Sans"/>
                <a:ea typeface="Noto Sans"/>
                <a:cs typeface="Noto Sans"/>
              </a:rPr>
              <a:t>Supplied product imagery · Proposal by Genadio Colinas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6B5D7E-23A1-4932-AC5B-4EF751509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09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5B52"/>
                </a:solidFill>
                <a:latin typeface="Noto Sans"/>
                <a:ea typeface="Noto Sans"/>
                <a:cs typeface="Noto Sans"/>
              </a:defRPr>
            </a:pPr>
            <a:r>
              <a:rPr sz="825" b="0">
                <a:solidFill>
                  <a:srgbClr val="5B5B52"/>
                </a:solidFill>
                <a:latin typeface="Noto Sans"/>
                <a:ea typeface="Noto Sans"/>
                <a:cs typeface="Noto Sans"/>
              </a:rPr>
              <a:t>EN</a:t>
            </a:r>
          </a:p>
        </p:txBody>
      </p:sp>
    </p:spTree>
    <p:extLst>
      <p:ext uri="{BB962C8B-B14F-4D97-AF65-F5344CB8AC3E}">
        <p14:creationId xmlns:p14="http://schemas.microsoft.com/office/powerpoint/2010/main" val="1024438879"/>
      </p:ext>
    </p:extLst>
  </p:cSld>
  <p:transition spd="med">
    <p:fade/>
  </p:transition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2026-09-08T08:43:15.4740000Z</dcterms:created>
  <dcterms:modified xsi:type="dcterms:W3CDTF">2026-09-08T08:43:15.4740000Z</dcterms:modified>
</coreProperties>
</file>